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Agency FB" panose="020B0503020202020204" pitchFamily="34" charset="0"/>
      <p:regular r:id="rId11"/>
      <p:bold r:id="rId12"/>
    </p:embeddedFont>
    <p:embeddedFont>
      <p:font typeface="Broadway" panose="04040905080002020502" pitchFamily="82" charset="0"/>
      <p:regular r:id="rId13"/>
    </p:embeddedFont>
    <p:embeddedFont>
      <p:font typeface="Playfair Display" panose="00000500000000000000" pitchFamily="2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1827"/>
    <a:srgbClr val="F19417"/>
    <a:srgbClr val="F8B6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01" y="1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font" Target="fonts/font3.fntdata" /><Relationship Id="rId18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font" Target="fonts/font2.fntdata" /><Relationship Id="rId17" Type="http://schemas.openxmlformats.org/officeDocument/2006/relationships/font" Target="fonts/font7.fntdata" /><Relationship Id="rId2" Type="http://schemas.openxmlformats.org/officeDocument/2006/relationships/slide" Target="slides/slide1.xml" /><Relationship Id="rId16" Type="http://schemas.openxmlformats.org/officeDocument/2006/relationships/font" Target="fonts/font6.fntdata" /><Relationship Id="rId20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font" Target="fonts/font1.fntdata" /><Relationship Id="rId5" Type="http://schemas.openxmlformats.org/officeDocument/2006/relationships/slide" Target="slides/slide4.xml" /><Relationship Id="rId15" Type="http://schemas.openxmlformats.org/officeDocument/2006/relationships/font" Target="fonts/font5.fntdata" /><Relationship Id="rId10" Type="http://schemas.openxmlformats.org/officeDocument/2006/relationships/slide" Target="slides/slide9.xml" /><Relationship Id="rId19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font" Target="fonts/font4.fntdata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14">
            <a:extLst>
              <a:ext uri="{FF2B5EF4-FFF2-40B4-BE49-F238E27FC236}">
                <a16:creationId xmlns:a16="http://schemas.microsoft.com/office/drawing/2014/main" id="{6BB3EC44-7A7B-9420-9FC3-8850275DB364}"/>
              </a:ext>
            </a:extLst>
          </p:cNvPr>
          <p:cNvSpPr/>
          <p:nvPr/>
        </p:nvSpPr>
        <p:spPr>
          <a:xfrm>
            <a:off x="6283272" y="878584"/>
            <a:ext cx="5035338" cy="4872229"/>
          </a:xfrm>
          <a:prstGeom prst="ellipse">
            <a:avLst/>
          </a:prstGeom>
          <a:gradFill>
            <a:gsLst>
              <a:gs pos="0">
                <a:schemeClr val="accent6">
                  <a:lumMod val="60000"/>
                  <a:lumOff val="40000"/>
                </a:schemeClr>
              </a:gs>
              <a:gs pos="70000">
                <a:schemeClr val="accent6">
                  <a:lumMod val="75000"/>
                </a:schemeClr>
              </a:gs>
            </a:gsLst>
            <a:lin ang="16200000" scaled="0"/>
          </a:gra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/>
          <p:cNvSpPr/>
          <p:nvPr/>
        </p:nvSpPr>
        <p:spPr>
          <a:xfrm>
            <a:off x="762000" y="609600"/>
            <a:ext cx="1862328" cy="4571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442778" y="2988313"/>
            <a:ext cx="762000" cy="76200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 flipV="1">
            <a:off x="8579477" y="3155155"/>
            <a:ext cx="488601" cy="442913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2000" y="6134100"/>
            <a:ext cx="639599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00000"/>
                </a:solidFill>
                <a:latin typeface="Inter"/>
              </a:rPr>
              <a:t>KINORA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507" y="1008126"/>
            <a:ext cx="4519314" cy="129266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400" b="1" i="0" u="none" dirty="0">
                <a:solidFill>
                  <a:srgbClr val="111827"/>
                </a:solidFill>
                <a:latin typeface="Broadway" panose="04040905080B02020502" pitchFamily="82" charset="0"/>
              </a:rPr>
              <a:t>KIN</a:t>
            </a:r>
            <a:r>
              <a:rPr sz="8400" b="1" i="0" u="none" dirty="0">
                <a:solidFill>
                  <a:srgbClr val="0F172A"/>
                </a:solidFill>
                <a:latin typeface="Broadway" panose="04040905080B02020502" pitchFamily="82" charset="0"/>
              </a:rPr>
              <a:t>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757612"/>
            <a:ext cx="2954335" cy="42319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3000" b="1" i="1" u="none" dirty="0">
                <a:solidFill>
                  <a:srgbClr val="111827"/>
                </a:solidFill>
                <a:latin typeface="Agency FB" panose="020B0503020202020204" pitchFamily="34" charset="0"/>
              </a:rPr>
              <a:t>Care comes full circle.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405312"/>
            <a:ext cx="4530471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4B5563"/>
                </a:solidFill>
                <a:latin typeface="Inter"/>
              </a:rPr>
              <a:t>A coordination platform for the families who </a:t>
            </a:r>
            <a:r>
              <a:rPr sz="1200" b="0" i="0" u="none" dirty="0">
                <a:solidFill>
                  <a:srgbClr val="4B5563"/>
                </a:solidFill>
                <a:latin typeface="Inter"/>
              </a:rPr>
              <a:t>care.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748212"/>
            <a:ext cx="319965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0" i="1" u="none" dirty="0">
                <a:solidFill>
                  <a:srgbClr val="4B5563"/>
                </a:solidFill>
                <a:latin typeface="Inter"/>
              </a:rPr>
              <a:t>Family is the unit. Care is the loop.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09478" y="326231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F3B6E4-8877-519B-4D2D-CC7E3D5D48BD}"/>
              </a:ext>
            </a:extLst>
          </p:cNvPr>
          <p:cNvSpPr/>
          <p:nvPr/>
        </p:nvSpPr>
        <p:spPr>
          <a:xfrm>
            <a:off x="6888098" y="1523761"/>
            <a:ext cx="3773806" cy="3667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6BA377F-8842-9C4C-190D-5078787D2C38}"/>
              </a:ext>
            </a:extLst>
          </p:cNvPr>
          <p:cNvSpPr/>
          <p:nvPr/>
        </p:nvSpPr>
        <p:spPr>
          <a:xfrm>
            <a:off x="7713977" y="2402732"/>
            <a:ext cx="2122048" cy="205253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887860"/>
            <a:ext cx="2500312" cy="3360539"/>
          </a:xfrm>
          <a:prstGeom prst="roundRect">
            <a:avLst>
              <a:gd name="adj" fmla="val 6095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90912" y="2887860"/>
            <a:ext cx="2500312" cy="3360539"/>
          </a:xfrm>
          <a:prstGeom prst="roundRect">
            <a:avLst>
              <a:gd name="adj" fmla="val 6095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9825" y="2887860"/>
            <a:ext cx="2500312" cy="3360539"/>
          </a:xfrm>
          <a:prstGeom prst="roundRect">
            <a:avLst>
              <a:gd name="adj" fmla="val 6095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48737" y="2887860"/>
            <a:ext cx="2481262" cy="3360539"/>
          </a:xfrm>
          <a:prstGeom prst="roundRect">
            <a:avLst>
              <a:gd name="adj" fmla="val 6142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609600"/>
            <a:ext cx="11301412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111827"/>
                </a:solidFill>
                <a:latin typeface="Playfair Display"/>
              </a:rPr>
              <a:t>Care is shared.</a:t>
            </a:r>
            <a:r>
              <a:t>
</a:t>
            </a:r>
            <a:r>
              <a:rPr sz="3600" b="1" i="0" u="none">
                <a:latin typeface="Playfair Display"/>
              </a:rPr>
              <a:t>Coordination isn't.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859160"/>
            <a:ext cx="7715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B5563"/>
                </a:solidFill>
                <a:latin typeface="Inter"/>
              </a:rPr>
              <a:t>The number of elders is climbing fast. The systems around them are still catching 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325" y="3202185"/>
            <a:ext cx="2456557" cy="714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200" b="1" i="0" u="none">
                <a:solidFill>
                  <a:srgbClr val="111827"/>
                </a:solidFill>
                <a:latin typeface="Playfair Display"/>
              </a:rPr>
              <a:t>~159</a:t>
            </a:r>
            <a:r>
              <a:rPr sz="1800" b="1" i="0" u="none">
                <a:solidFill>
                  <a:srgbClr val="111827"/>
                </a:solidFill>
                <a:latin typeface="Playfair Display"/>
              </a:rPr>
              <a:t>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6325" y="4068960"/>
            <a:ext cx="1966912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B5563"/>
                </a:solidFill>
                <a:latin typeface="Inter"/>
              </a:rPr>
              <a:t>Indians aged 60 and above today — projected to reach 325M by 2051.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05237" y="3202185"/>
            <a:ext cx="2456557" cy="714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200" b="1" i="0" u="none">
                <a:solidFill>
                  <a:srgbClr val="111827"/>
                </a:solidFill>
                <a:latin typeface="Playfair Display"/>
              </a:rPr>
              <a:t>70</a:t>
            </a:r>
            <a:r>
              <a:rPr sz="1800" b="1" i="0" u="none">
                <a:solidFill>
                  <a:srgbClr val="111827"/>
                </a:solidFill>
                <a:latin typeface="Playfair Display"/>
              </a:rPr>
              <a:t>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05237" y="4068960"/>
            <a:ext cx="1966912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B5563"/>
                </a:solidFill>
                <a:latin typeface="Inter"/>
              </a:rPr>
              <a:t>Depend on someone for daily support — across bathing, food, and moving around.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4150" y="3202185"/>
            <a:ext cx="2456557" cy="714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200" b="1" i="0" u="none">
                <a:solidFill>
                  <a:srgbClr val="111827"/>
                </a:solidFill>
                <a:latin typeface="Playfair Display"/>
              </a:rPr>
              <a:t>75</a:t>
            </a:r>
            <a:r>
              <a:rPr sz="1800" b="1" i="0" u="none">
                <a:solidFill>
                  <a:srgbClr val="111827"/>
                </a:solidFill>
                <a:latin typeface="Playfair Display"/>
              </a:rPr>
              <a:t>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4150" y="4068960"/>
            <a:ext cx="1966912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B5563"/>
                </a:solidFill>
                <a:latin typeface="Inter"/>
              </a:rPr>
              <a:t>Live with one or more chronic conditions. 24% face at least one ADL limitation.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53537" y="3192660"/>
            <a:ext cx="2456557" cy="714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200" b="1" i="0" u="none">
                <a:solidFill>
                  <a:srgbClr val="FFFFFF"/>
                </a:solidFill>
                <a:latin typeface="Playfair Display"/>
              </a:rPr>
              <a:t>~40</a:t>
            </a:r>
            <a:r>
              <a:rPr sz="1800" b="1" i="0" u="none">
                <a:solidFill>
                  <a:srgbClr val="FFFFFF"/>
                </a:solidFill>
                <a:latin typeface="Playfair Display"/>
              </a:rPr>
              <a:t>hrs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53537" y="4059435"/>
            <a:ext cx="1966912" cy="1000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Every week, an informal caregiver loses to phone calls, transport, refills. </a:t>
            </a:r>
            <a:r>
              <a:t>
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Quietly. Without help.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602110"/>
            <a:ext cx="3403550" cy="3646289"/>
          </a:xfrm>
          <a:prstGeom prst="roundRect">
            <a:avLst>
              <a:gd name="adj" fmla="val 4477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94150" y="2602110"/>
            <a:ext cx="3403550" cy="3646289"/>
          </a:xfrm>
          <a:prstGeom prst="roundRect">
            <a:avLst>
              <a:gd name="adj" fmla="val 4477"/>
            </a:avLst>
          </a:prstGeom>
          <a:solidFill>
            <a:srgbClr val="FEE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26300" y="2602110"/>
            <a:ext cx="3403550" cy="3646289"/>
          </a:xfrm>
          <a:prstGeom prst="roundRect">
            <a:avLst>
              <a:gd name="adj" fmla="val 4477"/>
            </a:avLst>
          </a:prstGeom>
          <a:solidFill>
            <a:srgbClr val="E0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66800" y="291643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3B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698950" y="291643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A16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331100" y="291643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3B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2000" y="609600"/>
            <a:ext cx="11301412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111827"/>
                </a:solidFill>
                <a:latin typeface="Playfair Display"/>
              </a:rPr>
              <a:t>One quiet space.</a:t>
            </a:r>
            <a:r>
              <a:t>
</a:t>
            </a:r>
            <a:r>
              <a:rPr sz="3600" b="1" i="1" u="none">
                <a:solidFill>
                  <a:srgbClr val="111827"/>
                </a:solidFill>
                <a:latin typeface="Playfair Display"/>
              </a:rPr>
              <a:t>For everyone who cares.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859160"/>
            <a:ext cx="95250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B5563"/>
                </a:solidFill>
                <a:latin typeface="Inter"/>
              </a:rPr>
              <a:t>KINORA is the family's coordination layer — private, shared, synchronised.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2910106"/>
            <a:ext cx="915315" cy="12695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IN" sz="825" b="1" i="0" u="none" dirty="0">
                <a:solidFill>
                  <a:srgbClr val="CBD5E1"/>
                </a:solidFill>
                <a:latin typeface="Inter"/>
              </a:rPr>
              <a:t>       </a:t>
            </a:r>
            <a:r>
              <a:rPr sz="825" b="1" i="0" u="none" dirty="0">
                <a:solidFill>
                  <a:srgbClr val="CBD5E1"/>
                </a:solidFill>
                <a:latin typeface="Inter"/>
              </a:rPr>
              <a:t>THE CARE CIRCLE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3268860"/>
            <a:ext cx="3033660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FFFFFF"/>
                </a:solidFill>
                <a:latin typeface="Playfair Display"/>
              </a:rPr>
              <a:t>Who shows up.</a:t>
            </a:r>
            <a:r>
              <a:t>
</a:t>
            </a:r>
            <a:r>
              <a:rPr sz="2100" b="1" i="0" u="none">
                <a:solidFill>
                  <a:srgbClr val="FFFFFF"/>
                </a:solidFill>
                <a:latin typeface="Playfair Display"/>
              </a:rPr>
              <a:t> For whom. With what.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5543550"/>
            <a:ext cx="28892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CBD5E1"/>
                </a:solidFill>
                <a:latin typeface="Inter"/>
              </a:rPr>
              <a:t>Member</a:t>
            </a:r>
            <a:r>
              <a:rPr lang="en-IN" sz="1050" b="0" i="0" u="none" dirty="0">
                <a:solidFill>
                  <a:srgbClr val="CBD5E1"/>
                </a:solidFill>
                <a:latin typeface="Inter"/>
              </a:rPr>
              <a:t>s </a:t>
            </a:r>
            <a:r>
              <a:rPr sz="1050" b="0" i="0" u="none" dirty="0">
                <a:solidFill>
                  <a:srgbClr val="CBD5E1"/>
                </a:solidFill>
                <a:latin typeface="Inter"/>
              </a:rPr>
              <a:t>hold roles — Coordinator, Helper, Viewer. Same space, private to the family.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8950" y="2910106"/>
            <a:ext cx="876843" cy="12695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IN" sz="825" b="1" i="0" u="none" dirty="0">
                <a:solidFill>
                  <a:srgbClr val="4B5563"/>
                </a:solidFill>
                <a:latin typeface="Inter"/>
              </a:rPr>
              <a:t>        </a:t>
            </a:r>
            <a:r>
              <a:rPr sz="825" b="1" i="0" u="none" dirty="0">
                <a:solidFill>
                  <a:srgbClr val="4B5563"/>
                </a:solidFill>
                <a:latin typeface="Inter"/>
              </a:rPr>
              <a:t>THE CARE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8950" y="3268860"/>
            <a:ext cx="3033660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111827"/>
                </a:solidFill>
                <a:latin typeface="Playfair Display"/>
              </a:rPr>
              <a:t>What today needs.</a:t>
            </a:r>
            <a:r>
              <a:t>
</a:t>
            </a:r>
            <a:r>
              <a:rPr sz="2100" b="1" i="0" u="none">
                <a:solidFill>
                  <a:srgbClr val="111827"/>
                </a:solidFill>
                <a:latin typeface="Playfair Display"/>
              </a:rPr>
              <a:t> Without losing track.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8950" y="5543550"/>
            <a:ext cx="28892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B5563"/>
                </a:solidFill>
                <a:latin typeface="Inter"/>
              </a:rPr>
              <a:t>Tasks, refills, appointments — one quiet list, shared with the people who matter.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1100" y="2910106"/>
            <a:ext cx="637995" cy="12695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IN" sz="825" b="1" i="0" u="none" dirty="0">
                <a:solidFill>
                  <a:srgbClr val="4B5563"/>
                </a:solidFill>
                <a:latin typeface="Inter"/>
              </a:rPr>
              <a:t>       </a:t>
            </a:r>
            <a:r>
              <a:rPr sz="825" b="1" i="0" u="none" dirty="0">
                <a:solidFill>
                  <a:srgbClr val="4B5563"/>
                </a:solidFill>
                <a:latin typeface="Inter"/>
              </a:rPr>
              <a:t>QUIET SOS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1100" y="3268860"/>
            <a:ext cx="3033660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111827"/>
                </a:solidFill>
                <a:latin typeface="Playfair Display"/>
              </a:rPr>
              <a:t>When it matters,</a:t>
            </a:r>
            <a:r>
              <a:t>
</a:t>
            </a:r>
            <a:r>
              <a:rPr sz="2100" b="1" i="0" u="none">
                <a:solidFill>
                  <a:srgbClr val="111827"/>
                </a:solidFill>
                <a:latin typeface="Playfair Display"/>
              </a:rPr>
              <a:t> family knows.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1100" y="5543550"/>
            <a:ext cx="28892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B5563"/>
                </a:solidFill>
                <a:latin typeface="Inter"/>
              </a:rPr>
              <a:t>Hold to alert. Family within seconds. Never replaces 112.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809750" y="2602110"/>
            <a:ext cx="8572500" cy="914400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1809750" y="3630810"/>
            <a:ext cx="7715250" cy="933450"/>
          </a:xfrm>
          <a:prstGeom prst="roundRect">
            <a:avLst>
              <a:gd name="adj" fmla="val 12244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809750" y="4678560"/>
            <a:ext cx="8143875" cy="914400"/>
          </a:xfrm>
          <a:prstGeom prst="roundRect">
            <a:avLst>
              <a:gd name="adj" fmla="val 12500"/>
            </a:avLst>
          </a:prstGeom>
          <a:solidFill>
            <a:srgbClr val="FEE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809750" y="5707260"/>
            <a:ext cx="7286625" cy="723900"/>
          </a:xfrm>
          <a:prstGeom prst="roundRect">
            <a:avLst>
              <a:gd name="adj" fmla="val 15789"/>
            </a:avLst>
          </a:prstGeom>
          <a:solidFill>
            <a:srgbClr val="E0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609600"/>
            <a:ext cx="11301412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111827"/>
                </a:solidFill>
                <a:latin typeface="Playfair Display"/>
              </a:rPr>
              <a:t>Built quiet.</a:t>
            </a:r>
            <a:r>
              <a:t>
</a:t>
            </a:r>
            <a:r>
              <a:rPr sz="3600" b="1" i="1" u="none">
                <a:solidFill>
                  <a:srgbClr val="111827"/>
                </a:solidFill>
                <a:latin typeface="Playfair Display"/>
              </a:rPr>
              <a:t>Four layers, kept simple.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859160"/>
            <a:ext cx="95250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B5563"/>
                </a:solidFill>
                <a:latin typeface="Inter"/>
              </a:rPr>
              <a:t>Engineered around three commitments — clarity, privacy, low friction.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14550" y="2830710"/>
            <a:ext cx="8572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 dirty="0">
                <a:solidFill>
                  <a:srgbClr val="FFFFFF"/>
                </a:solidFill>
                <a:latin typeface="Inter"/>
              </a:rPr>
              <a:t>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98" y="3878460"/>
            <a:ext cx="8572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 dirty="0">
                <a:latin typeface="Inter"/>
              </a:rPr>
              <a:t>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14550" y="4907160"/>
            <a:ext cx="8572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 dirty="0">
                <a:latin typeface="Inter"/>
              </a:rPr>
              <a:t>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0208" y="2917967"/>
            <a:ext cx="338234" cy="269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IN" sz="2100" b="1" i="0" u="none" dirty="0">
                <a:solidFill>
                  <a:srgbClr val="F3B68F"/>
                </a:solidFill>
                <a:latin typeface="Playfair Display"/>
              </a:rPr>
              <a:t> </a:t>
            </a:r>
            <a:r>
              <a:rPr sz="2100" b="1" i="0" u="none" dirty="0">
                <a:solidFill>
                  <a:srgbClr val="F3B68F"/>
                </a:solidFill>
                <a:latin typeface="Playfair Display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76550" y="2864048"/>
            <a:ext cx="74509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Inter"/>
              </a:rPr>
              <a:t>Family experience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76550" y="3102173"/>
            <a:ext cx="70961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CBD5E1"/>
                </a:solidFill>
                <a:latin typeface="Inter"/>
              </a:rPr>
              <a:t>Multi-role UI — phone-first, web-companion, designed for two thumbs and one worried thumb.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14550" y="3944083"/>
            <a:ext cx="314189" cy="269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2100" b="1" i="0" u="none" dirty="0">
                <a:solidFill>
                  <a:srgbClr val="111827"/>
                </a:solidFill>
                <a:latin typeface="Playfair Display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6075" y="3902273"/>
            <a:ext cx="707588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11827"/>
                </a:solidFill>
                <a:latin typeface="Inter"/>
              </a:rPr>
              <a:t>Care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6075" y="4140398"/>
            <a:ext cx="67389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B5563"/>
                </a:solidFill>
                <a:latin typeface="Inter"/>
              </a:rPr>
              <a:t>Schedules, refills, hold-to-alert, family updates — the rules that hold a household together.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95017" y="5017554"/>
            <a:ext cx="304571" cy="269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2100" b="1" i="0" u="none" dirty="0">
                <a:solidFill>
                  <a:srgbClr val="A16242"/>
                </a:solidFill>
                <a:latin typeface="Playfair Display"/>
              </a:rPr>
              <a:t>03</a:t>
            </a:r>
            <a:endParaRPr lang="en-IN" sz="2100" b="1" i="0" u="none" dirty="0">
              <a:solidFill>
                <a:srgbClr val="A16242"/>
              </a:solidFill>
              <a:latin typeface="Playfair Display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876550" y="4940498"/>
            <a:ext cx="766345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11827"/>
                </a:solidFill>
                <a:latin typeface="Inter"/>
              </a:rPr>
              <a:t>Privacy &amp; trust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76550" y="5178623"/>
            <a:ext cx="729853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B5563"/>
                </a:solidFill>
                <a:latin typeface="Inter"/>
              </a:rPr>
              <a:t>Role-based access, consent-first sharing, encrypted at rest — privacy as the default, not a setting.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14550" y="5935860"/>
            <a:ext cx="1100137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2100" b="1" i="0" u="none" dirty="0">
                <a:solidFill>
                  <a:srgbClr val="3B5A45"/>
                </a:solidFill>
                <a:latin typeface="Playfair Display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76550" y="5954910"/>
            <a:ext cx="613826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1" u="none">
                <a:solidFill>
                  <a:srgbClr val="111827"/>
                </a:solidFill>
                <a:latin typeface="Playfair Display"/>
              </a:rPr>
              <a:t>Connections — calendars, contacts, healthcare partners, later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719C9F-5BB4-8C9A-7484-95AC78CBA35A}"/>
              </a:ext>
            </a:extLst>
          </p:cNvPr>
          <p:cNvSpPr txBox="1"/>
          <p:nvPr/>
        </p:nvSpPr>
        <p:spPr>
          <a:xfrm>
            <a:off x="2148897" y="5935860"/>
            <a:ext cx="56511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1" dirty="0">
                <a:latin typeface="Inter"/>
              </a:rPr>
              <a:t>LAYER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602110"/>
            <a:ext cx="3403550" cy="3274814"/>
          </a:xfrm>
          <a:prstGeom prst="roundRect">
            <a:avLst>
              <a:gd name="adj" fmla="val 4653"/>
            </a:avLst>
          </a:prstGeom>
          <a:solidFill>
            <a:srgbClr val="FEE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94150" y="2602110"/>
            <a:ext cx="3403550" cy="3274814"/>
          </a:xfrm>
          <a:prstGeom prst="roundRect">
            <a:avLst>
              <a:gd name="adj" fmla="val 4653"/>
            </a:avLst>
          </a:prstGeom>
          <a:solidFill>
            <a:srgbClr val="E5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26300" y="2602110"/>
            <a:ext cx="3403550" cy="3274814"/>
          </a:xfrm>
          <a:prstGeom prst="roundRect">
            <a:avLst>
              <a:gd name="adj" fmla="val 4653"/>
            </a:avLst>
          </a:prstGeom>
          <a:solidFill>
            <a:srgbClr val="E0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66800" y="290691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A16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698950" y="290691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3B6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331100" y="290691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3B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2000" y="609600"/>
            <a:ext cx="11301412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111827"/>
                </a:solidFill>
                <a:latin typeface="Playfair Display"/>
              </a:rPr>
              <a:t>Price economics.</a:t>
            </a:r>
            <a:r>
              <a:t>
</a:t>
            </a:r>
            <a:r>
              <a:rPr sz="3600" b="1" i="1" u="none">
                <a:solidFill>
                  <a:srgbClr val="111827"/>
                </a:solidFill>
                <a:latin typeface="Playfair Display"/>
              </a:rPr>
              <a:t>Built around the family, not against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859160"/>
            <a:ext cx="95250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B5563"/>
                </a:solidFill>
                <a:latin typeface="Inter"/>
              </a:rPr>
              <a:t>Three seats. One loop. No surprises.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105525"/>
            <a:ext cx="114300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1" u="none">
                <a:solidFill>
                  <a:srgbClr val="4B5563"/>
                </a:solidFill>
                <a:latin typeface="Inter"/>
              </a:rPr>
              <a:t>A structural frame — the actual mechanism unfolds during the pitch.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3173610"/>
            <a:ext cx="3492437" cy="1333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4B5563"/>
                </a:solidFill>
                <a:latin typeface="Inter"/>
              </a:rPr>
              <a:t>SEAT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3383160"/>
            <a:ext cx="3667059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1" u="none">
                <a:solidFill>
                  <a:srgbClr val="111827"/>
                </a:solidFill>
                <a:latin typeface="Playfair Display"/>
              </a:rPr>
              <a:t>Coordinator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3901231"/>
            <a:ext cx="28892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B5563"/>
                </a:solidFill>
                <a:latin typeface="Inter"/>
              </a:rPr>
              <a:t>The primary caregiver — usually one of the children. Holds the loop together.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800" y="5457825"/>
            <a:ext cx="349243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111827"/>
                </a:solidFill>
                <a:latin typeface="Inter"/>
              </a:rPr>
              <a:t>INCLUDES THE ROOM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8950" y="3173610"/>
            <a:ext cx="3492437" cy="1333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4B5563"/>
                </a:solidFill>
                <a:latin typeface="Inter"/>
              </a:rPr>
              <a:t>SEAT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8950" y="3383160"/>
            <a:ext cx="3667059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1" u="none">
                <a:solidFill>
                  <a:srgbClr val="111827"/>
                </a:solidFill>
                <a:latin typeface="Playfair Display"/>
              </a:rPr>
              <a:t>Helper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8950" y="3901231"/>
            <a:ext cx="28892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B5563"/>
                </a:solidFill>
                <a:latin typeface="Inter"/>
              </a:rPr>
              <a:t>A sibling, a cousin, a paid attendant, the chemist next door — whoever shows up week-to-week.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8950" y="5457825"/>
            <a:ext cx="349243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111827"/>
                </a:solidFill>
                <a:latin typeface="Inter"/>
              </a:rPr>
              <a:t>SCALES WITH THE CIRCLE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1100" y="3173610"/>
            <a:ext cx="3492437" cy="1333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4B5563"/>
                </a:solidFill>
                <a:latin typeface="Inter"/>
              </a:rPr>
              <a:t>SEAT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1100" y="3383160"/>
            <a:ext cx="3667059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1" u="none">
                <a:solidFill>
                  <a:srgbClr val="111827"/>
                </a:solidFill>
                <a:latin typeface="Playfair Display"/>
              </a:rPr>
              <a:t>Viewer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1100" y="3901231"/>
            <a:ext cx="28892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B5563"/>
                </a:solidFill>
                <a:latin typeface="Inter"/>
              </a:rPr>
              <a:t>The loved one — by invitation, with privacy. Sees what the circle chooses to share.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1100" y="5457825"/>
            <a:ext cx="349243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111827"/>
                </a:solidFill>
                <a:latin typeface="Inter"/>
              </a:rPr>
              <a:t>QUIET BY DEFAULT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053530"/>
            <a:ext cx="5219700" cy="1983134"/>
          </a:xfrm>
          <a:prstGeom prst="roundRect">
            <a:avLst>
              <a:gd name="adj" fmla="val 7684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053530"/>
            <a:ext cx="5219700" cy="1983134"/>
          </a:xfrm>
          <a:prstGeom prst="roundRect">
            <a:avLst>
              <a:gd name="adj" fmla="val 7684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4265265"/>
            <a:ext cx="5219700" cy="1983134"/>
          </a:xfrm>
          <a:prstGeom prst="roundRect">
            <a:avLst>
              <a:gd name="adj" fmla="val 7684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4265265"/>
            <a:ext cx="5219700" cy="1983134"/>
          </a:xfrm>
          <a:prstGeom prst="roundRect">
            <a:avLst>
              <a:gd name="adj" fmla="val 7684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1525" y="2367855"/>
            <a:ext cx="38100" cy="1354484"/>
          </a:xfrm>
          <a:prstGeom prst="rect">
            <a:avLst/>
          </a:prstGeom>
          <a:solidFill>
            <a:srgbClr val="F3B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9825" y="2367855"/>
            <a:ext cx="38100" cy="1354484"/>
          </a:xfrm>
          <a:prstGeom prst="rect">
            <a:avLst/>
          </a:prstGeom>
          <a:solidFill>
            <a:srgbClr val="3B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1525" y="4579590"/>
            <a:ext cx="38100" cy="135448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2000" y="609600"/>
            <a:ext cx="11430000" cy="5485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111827"/>
                </a:solidFill>
                <a:latin typeface="Playfair Display"/>
              </a:rPr>
              <a:t>Where value compounds.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310580"/>
            <a:ext cx="95250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B5563"/>
                </a:solidFill>
                <a:latin typeface="Inter"/>
              </a:rPr>
              <a:t>Four ways KINORA turns care coordination into a quiet, durable business.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325" y="2367855"/>
            <a:ext cx="5738812" cy="1333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4B5563"/>
                </a:solidFill>
                <a:latin typeface="Inter"/>
              </a:rPr>
              <a:t>STREAM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2577405"/>
            <a:ext cx="6025753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000000"/>
                </a:solidFill>
                <a:latin typeface="Playfair Display"/>
              </a:rPr>
              <a:t>Family plans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" y="3049785"/>
            <a:ext cx="46863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B5563"/>
                </a:solidFill>
                <a:latin typeface="Inter"/>
              </a:rPr>
              <a:t>Free to start. The care circle expands, more seats come in. Retention tied to the relationship, not the feature.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4625" y="2367855"/>
            <a:ext cx="5667375" cy="1333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4B5563"/>
                </a:solidFill>
                <a:latin typeface="Inter"/>
              </a:rPr>
              <a:t>STREAM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4625" y="2577405"/>
            <a:ext cx="5667375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000000"/>
                </a:solidFill>
                <a:latin typeface="Playfair Display"/>
              </a:rPr>
              <a:t>Healthcare partners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4625" y="3049785"/>
            <a:ext cx="46863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B5563"/>
                </a:solidFill>
                <a:latin typeface="Inter"/>
              </a:rPr>
              <a:t>Verified integrations with clinics, diagnostics, physiotherapy networks ... booked through family consent.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6325" y="4579590"/>
            <a:ext cx="5738812" cy="1333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4B5563"/>
                </a:solidFill>
                <a:latin typeface="Inter"/>
              </a:rPr>
              <a:t>STREAM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6325" y="4789140"/>
            <a:ext cx="6025753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000000"/>
                </a:solidFill>
                <a:latin typeface="Playfair Display"/>
              </a:rPr>
              <a:t>Community &amp; NGO programs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6325" y="5261520"/>
            <a:ext cx="46863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B5563"/>
                </a:solidFill>
                <a:latin typeface="Inter"/>
              </a:rPr>
              <a:t>Subsidised seats routed through NGOs, RWAs and CSR programs — where price economics meets grassroot reach.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5100" y="4570065"/>
            <a:ext cx="5676900" cy="1333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94A3B8"/>
                </a:solidFill>
                <a:latin typeface="Inter"/>
              </a:rPr>
              <a:t>STREAM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5100" y="4779615"/>
            <a:ext cx="56769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FFFFFF"/>
                </a:solidFill>
                <a:latin typeface="Playfair Display"/>
              </a:rPr>
              <a:t>Adjacent services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5100" y="5251995"/>
            <a:ext cx="47053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Concierge assistance, vetted caregiver marketplace, calendar premium — relevant once the loop is trusted.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053530"/>
            <a:ext cx="3397299" cy="3804344"/>
          </a:xfrm>
          <a:prstGeom prst="roundRect">
            <a:avLst>
              <a:gd name="adj" fmla="val 4485"/>
            </a:avLst>
          </a:prstGeom>
          <a:solidFill>
            <a:srgbClr val="FEE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87899" y="2053530"/>
            <a:ext cx="3416349" cy="3804344"/>
          </a:xfrm>
          <a:prstGeom prst="roundRect">
            <a:avLst>
              <a:gd name="adj" fmla="val 446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32849" y="2053530"/>
            <a:ext cx="3397299" cy="3804344"/>
          </a:xfrm>
          <a:prstGeom prst="roundRect">
            <a:avLst>
              <a:gd name="adj" fmla="val 4485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403425" y="54387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A16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38850" y="54292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3B6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674274" y="54387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3B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2000" y="609600"/>
            <a:ext cx="11430000" cy="5485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111827"/>
                </a:solidFill>
                <a:latin typeface="Playfair Display"/>
              </a:rPr>
              <a:t>Where the loop keeps going.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310580"/>
            <a:ext cx="95250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B5563"/>
                </a:solidFill>
                <a:latin typeface="Inter"/>
              </a:rPr>
              <a:t>Three horizons — expand, bridge, reach.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285750" y="6086475"/>
            <a:ext cx="127635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1" u="none">
                <a:solidFill>
                  <a:srgbClr val="4B5563"/>
                </a:solidFill>
                <a:latin typeface="Inter"/>
              </a:rPr>
              <a:t>Plus the long arc — quiet growth that compounds with each family that joins.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2358330"/>
            <a:ext cx="3484624" cy="1333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4B5563"/>
                </a:solidFill>
                <a:latin typeface="Inter"/>
              </a:rPr>
              <a:t>HORIZON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2567880"/>
            <a:ext cx="3484624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B5563"/>
                </a:solidFill>
                <a:latin typeface="Inter"/>
              </a:rPr>
              <a:t>Within 12 months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2863155"/>
            <a:ext cx="3027097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1" u="none">
                <a:solidFill>
                  <a:srgbClr val="111827"/>
                </a:solidFill>
                <a:latin typeface="Playfair Display"/>
              </a:rPr>
              <a:t>Widen the</a:t>
            </a:r>
            <a:r>
              <a:t>
</a:t>
            </a:r>
            <a:r>
              <a:rPr sz="2400" b="1" i="1" u="none">
                <a:solidFill>
                  <a:srgbClr val="111827"/>
                </a:solidFill>
                <a:latin typeface="Playfair Display"/>
              </a:rPr>
              <a:t> circle.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800" y="3746896"/>
            <a:ext cx="2882949" cy="557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B5563"/>
                </a:solidFill>
                <a:latin typeface="Inter"/>
              </a:rPr>
              <a:t>Helpers across cities. Family that lives upstairs, family that lives abroad. The loop can hold a lot.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2224" y="2367855"/>
            <a:ext cx="3484624" cy="1333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4B5563"/>
                </a:solidFill>
                <a:latin typeface="Inter"/>
              </a:rPr>
              <a:t>HORIZON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2224" y="2577405"/>
            <a:ext cx="3484624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B5563"/>
                </a:solidFill>
                <a:latin typeface="Inter"/>
              </a:rPr>
              <a:t>1-3 years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2224" y="2872680"/>
            <a:ext cx="3027097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1" u="none">
                <a:solidFill>
                  <a:srgbClr val="111827"/>
                </a:solidFill>
                <a:latin typeface="Playfair Display"/>
              </a:rPr>
              <a:t>Bridge</a:t>
            </a:r>
            <a:r>
              <a:t>
</a:t>
            </a:r>
            <a:r>
              <a:rPr sz="2400" b="1" i="1" u="none">
                <a:solidFill>
                  <a:srgbClr val="111827"/>
                </a:solidFill>
                <a:latin typeface="Playfair Display"/>
              </a:rPr>
              <a:t> to systems.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2224" y="3756421"/>
            <a:ext cx="2882949" cy="557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B5563"/>
                </a:solidFill>
                <a:latin typeface="Inter"/>
              </a:rPr>
              <a:t>Verified appointments, refill reminders pulled through partners, opt-in vitals — clinics inside the app.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7649" y="2358330"/>
            <a:ext cx="3484624" cy="1333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CBD5E1"/>
                </a:solidFill>
                <a:latin typeface="Inter"/>
              </a:rPr>
              <a:t>HORIZON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7649" y="2567880"/>
            <a:ext cx="3484624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3 years &amp; beyond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7649" y="2863155"/>
            <a:ext cx="3027097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1" u="none">
                <a:solidFill>
                  <a:srgbClr val="FFFFFF"/>
                </a:solidFill>
                <a:latin typeface="Playfair Display"/>
              </a:rPr>
              <a:t>Reach the</a:t>
            </a:r>
            <a:r>
              <a:t>
</a:t>
            </a:r>
            <a:r>
              <a:rPr sz="2400" b="1" i="1" u="none">
                <a:solidFill>
                  <a:srgbClr val="FFFFFF"/>
                </a:solidFill>
                <a:latin typeface="Playfair Display"/>
              </a:rPr>
              <a:t> unserved.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7649" y="3746896"/>
            <a:ext cx="2882949" cy="557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Subsidised seats with NGOs, RWAs, panchayat tie-ups — the families pricing-out of every other option.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64BF199C-9F4A-EF48-56BF-5486AD3F2C82}"/>
              </a:ext>
            </a:extLst>
          </p:cNvPr>
          <p:cNvSpPr/>
          <p:nvPr/>
        </p:nvSpPr>
        <p:spPr>
          <a:xfrm>
            <a:off x="8442778" y="3423927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761999" y="609600"/>
            <a:ext cx="1387813" cy="45719"/>
          </a:xfrm>
          <a:prstGeom prst="rect">
            <a:avLst/>
          </a:prstGeom>
          <a:solidFill>
            <a:srgbClr val="F3B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1201400" y="6455414"/>
            <a:ext cx="228600" cy="2286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585D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2000" y="5943600"/>
            <a:ext cx="1269578" cy="3847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00" b="1" i="0" u="none" dirty="0">
                <a:solidFill>
                  <a:srgbClr val="FFFFFF"/>
                </a:solidFill>
                <a:latin typeface="Playfair Display"/>
              </a:rPr>
              <a:t>KIN</a:t>
            </a:r>
            <a:r>
              <a:rPr sz="2500" b="1" i="0" u="none" dirty="0">
                <a:latin typeface="Playfair Display"/>
              </a:rPr>
              <a:t>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999" y="2518470"/>
            <a:ext cx="6397557" cy="1133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sz="3500" b="1" i="1" u="none" dirty="0">
                <a:solidFill>
                  <a:srgbClr val="FFFFFF"/>
                </a:solidFill>
                <a:latin typeface="Playfair Display"/>
              </a:rPr>
              <a:t>Care comes</a:t>
            </a:r>
            <a:r>
              <a:rPr lang="en-IN" sz="3500" b="1" i="1" u="none" dirty="0">
                <a:solidFill>
                  <a:srgbClr val="FFFFFF"/>
                </a:solidFill>
                <a:latin typeface="Playfair Display"/>
              </a:rPr>
              <a:t> in</a:t>
            </a:r>
            <a:r>
              <a:rPr sz="3500" dirty="0"/>
              <a:t>
</a:t>
            </a:r>
            <a:r>
              <a:rPr sz="3500" b="1" i="1" u="none" dirty="0">
                <a:latin typeface="Playfair Display"/>
              </a:rPr>
              <a:t>full circle.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225230"/>
            <a:ext cx="3020892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1" u="none" dirty="0">
                <a:solidFill>
                  <a:srgbClr val="CBD5E1"/>
                </a:solidFill>
                <a:latin typeface="Inter"/>
              </a:rPr>
              <a:t>Built quietly. For the families who care.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0646" y="4471647"/>
            <a:ext cx="3052246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94A3B8"/>
                </a:solidFill>
                <a:latin typeface="Inter"/>
              </a:rPr>
              <a:t>Thank you for holding the loop with us.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7E971D0-8688-5179-2D0B-54A4FC45B041}"/>
              </a:ext>
            </a:extLst>
          </p:cNvPr>
          <p:cNvSpPr/>
          <p:nvPr/>
        </p:nvSpPr>
        <p:spPr>
          <a:xfrm>
            <a:off x="6283272" y="1314198"/>
            <a:ext cx="5035338" cy="4872229"/>
          </a:xfrm>
          <a:prstGeom prst="ellipse">
            <a:avLst/>
          </a:prstGeom>
          <a:gradFill>
            <a:gsLst>
              <a:gs pos="0">
                <a:schemeClr val="accent6">
                  <a:lumMod val="60000"/>
                  <a:lumOff val="40000"/>
                </a:schemeClr>
              </a:gs>
              <a:gs pos="70000">
                <a:schemeClr val="accent6">
                  <a:lumMod val="75000"/>
                </a:schemeClr>
              </a:gs>
            </a:gsLst>
            <a:lin ang="16200000" scaled="0"/>
          </a:gra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Rounded Rectangle 6">
            <a:extLst>
              <a:ext uri="{FF2B5EF4-FFF2-40B4-BE49-F238E27FC236}">
                <a16:creationId xmlns:a16="http://schemas.microsoft.com/office/drawing/2014/main" id="{5FE5AEE7-47EB-812D-A325-BA05CA2990D3}"/>
              </a:ext>
            </a:extLst>
          </p:cNvPr>
          <p:cNvSpPr/>
          <p:nvPr/>
        </p:nvSpPr>
        <p:spPr>
          <a:xfrm flipV="1">
            <a:off x="8579477" y="3590769"/>
            <a:ext cx="488601" cy="442913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2">
            <a:extLst>
              <a:ext uri="{FF2B5EF4-FFF2-40B4-BE49-F238E27FC236}">
                <a16:creationId xmlns:a16="http://schemas.microsoft.com/office/drawing/2014/main" id="{E17A49CD-2317-61A8-430A-2305A3885378}"/>
              </a:ext>
            </a:extLst>
          </p:cNvPr>
          <p:cNvSpPr/>
          <p:nvPr/>
        </p:nvSpPr>
        <p:spPr>
          <a:xfrm>
            <a:off x="8709478" y="3697926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7538D0B-FAC7-1DBE-179D-1E4292714B44}"/>
              </a:ext>
            </a:extLst>
          </p:cNvPr>
          <p:cNvSpPr/>
          <p:nvPr/>
        </p:nvSpPr>
        <p:spPr>
          <a:xfrm>
            <a:off x="6888098" y="1959375"/>
            <a:ext cx="3773806" cy="3667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A3C6D0C-3610-2F6E-6260-003696B9406B}"/>
              </a:ext>
            </a:extLst>
          </p:cNvPr>
          <p:cNvSpPr/>
          <p:nvPr/>
        </p:nvSpPr>
        <p:spPr>
          <a:xfrm>
            <a:off x="7713977" y="2838346"/>
            <a:ext cx="2122048" cy="205253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A5B57FA-6565-E4BD-6B77-BAA0B064E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8203"/>
            <a:ext cx="12192000" cy="6896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840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702</Words>
  <Application>Microsoft Office PowerPoint</Application>
  <PresentationFormat>Widescreen</PresentationFormat>
  <Paragraphs>91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Pranay Kumar</cp:lastModifiedBy>
  <cp:revision>6</cp:revision>
  <dcterms:created xsi:type="dcterms:W3CDTF">2013-01-27T09:14:16Z</dcterms:created>
  <dcterms:modified xsi:type="dcterms:W3CDTF">2026-10-22T16:42:01Z</dcterms:modified>
  <cp:category/>
</cp:coreProperties>
</file>